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RZTUNJ+rtXv0DPF1Um48s7pft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timkuz/Documents/GitHub/Institute_Unity_Game/presentation/assets/report/clean/map_only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2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325880" y="1280160"/>
            <a:ext cx="9539935" cy="4709160"/>
          </a:xfrm>
          <a:prstGeom prst="roundRect">
            <a:avLst>
              <a:gd fmla="val 2330" name="adj"/>
            </a:avLst>
          </a:prstGeom>
          <a:solidFill>
            <a:srgbClr val="0A0B12"/>
          </a:solidFill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330200" rotWithShape="0" algn="bl" dir="5400000" dist="101600">
              <a:srgbClr val="000000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325880" y="1536192"/>
            <a:ext cx="95399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ХАРКІВСЬКИЙ НАЦІОНАЛЬНИЙ УНІВЕРСИТЕТ РАДІОЕЛЕКТРОНІКИ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325880" y="1847088"/>
            <a:ext cx="95399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Кафедра програмної інженерії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325880" y="2345435"/>
            <a:ext cx="9540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48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666080" y="3438144"/>
            <a:ext cx="128016" cy="14630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4A39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031840" y="3438144"/>
            <a:ext cx="128016" cy="14630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397600" y="3438144"/>
            <a:ext cx="128016" cy="14630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4A39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325880" y="3685032"/>
            <a:ext cx="95399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КВАЛІФІКАЦІЙНА РОБОТА БАКАЛАВРА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874520" y="3986784"/>
            <a:ext cx="844265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«Ігрове програмне забезпечення в жанрі глобальної стратегії на рушії Unity»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325880" y="4864608"/>
            <a:ext cx="95399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Науковий керівник:   </a:t>
            </a:r>
            <a:r>
              <a:rPr b="1" i="0" lang="en-US" sz="130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ст. викл. Сковороднікова В. В.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325880" y="5175504"/>
            <a:ext cx="95399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Виконав:   </a:t>
            </a:r>
            <a:r>
              <a:rPr b="1" i="0" lang="en-US" sz="130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студент гр. ПЗПІ-22-8   Кузьменко Тимофій Володимирович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325880" y="5541264"/>
            <a:ext cx="95399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Харків ·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-1005840" y="4279392"/>
            <a:ext cx="2926080" cy="329184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10728655" y="-1005840"/>
            <a:ext cx="2560320" cy="283464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11551615" y="1170432"/>
            <a:ext cx="1188720" cy="13716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01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Постановка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Об'єкт · предмет · мета · задачі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66928" y="1399032"/>
            <a:ext cx="5346040" cy="1078992"/>
          </a:xfrm>
          <a:prstGeom prst="roundRect">
            <a:avLst>
              <a:gd fmla="val 7627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822960" y="1545336"/>
            <a:ext cx="488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ОБ'ЄКТ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822960" y="1819656"/>
            <a:ext cx="48339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Створення ігрового ПЗ жанру глобальної стратегії на рушії Unity.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278728" y="1399032"/>
            <a:ext cx="5346040" cy="1078992"/>
          </a:xfrm>
          <a:prstGeom prst="roundRect">
            <a:avLst>
              <a:gd fmla="val 7627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6534760" y="1545336"/>
            <a:ext cx="488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ПРЕДМЕТ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534760" y="1819656"/>
            <a:ext cx="48339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Методи реалізації керування регіонами, генерації карти, подій і рішень.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66928" y="2679192"/>
            <a:ext cx="11057839" cy="914400"/>
          </a:xfrm>
          <a:prstGeom prst="roundRect">
            <a:avLst>
              <a:gd fmla="val 9000" name="adj"/>
            </a:avLst>
          </a:prstGeom>
          <a:solidFill>
            <a:srgbClr val="1E2748"/>
          </a:solidFill>
          <a:ln cap="flat" cmpd="sng" w="1270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822960" y="2962656"/>
            <a:ext cx="347472" cy="38404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1435608" y="283464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МЕТА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435608" y="3072384"/>
            <a:ext cx="99605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Розробити працездатний прототип стратегії з керуванням регіонами на основі модульної data-driven архітектури.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66928" y="373989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ЗАДАЧІ РОБОТИ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66928" y="4050792"/>
            <a:ext cx="292608" cy="32918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566928" y="4050792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978408" y="4014216"/>
            <a:ext cx="4888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Проаналізувати галузь та аналоги, сформувати вимоги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66928" y="4517136"/>
            <a:ext cx="292608" cy="32918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66928" y="4517136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978408" y="4480560"/>
            <a:ext cx="4888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Спроєктувати компонентну архітектуру й модель даних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66928" y="4983480"/>
            <a:ext cx="292608" cy="32918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66928" y="4983480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78408" y="4946904"/>
            <a:ext cx="4888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Реалізувати відтворюваний конвеєр генерації карти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66928" y="5449824"/>
            <a:ext cx="292608" cy="32918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66928" y="5449824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78408" y="5413248"/>
            <a:ext cx="4888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Реалізувати регіони, рішення, покращення та події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278728" y="4050792"/>
            <a:ext cx="292608" cy="32918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278728" y="4050792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690208" y="4014216"/>
            <a:ext cx="4888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Реалізувати персонажів, економіку, «Розум», Exposure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278728" y="4517136"/>
            <a:ext cx="292608" cy="32918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278728" y="4517136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690208" y="4480560"/>
            <a:ext cx="4888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Реалізувати збереження та користувацький інтерфейс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278728" y="4983480"/>
            <a:ext cx="292608" cy="32918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278728" y="4983480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690208" y="4946904"/>
            <a:ext cx="4888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Провести багаторівневе тестування прототипу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/>
          <p:nvPr/>
        </p:nvSpPr>
        <p:spPr>
          <a:xfrm>
            <a:off x="9997135" y="4187952"/>
            <a:ext cx="3108960" cy="347472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11185855" y="3090672"/>
            <a:ext cx="1554480" cy="17373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01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-822960" y="-914400"/>
            <a:ext cx="2377440" cy="26517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Актуальність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Актуальність дослідження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66928" y="1490472"/>
            <a:ext cx="4572000" cy="4160520"/>
          </a:xfrm>
          <a:prstGeom prst="roundRect">
            <a:avLst>
              <a:gd fmla="val 1978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841248" y="1737360"/>
            <a:ext cx="4023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Стратегічні ігри з керуванням територіями — інструмент моделювання складних соціальних систем.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41248" y="2651760"/>
            <a:ext cx="4023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Сучасні проєкти потребують гнучких data-driven рішень, які легко розширювати.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841248" y="3776472"/>
            <a:ext cx="4023360" cy="1600200"/>
          </a:xfrm>
          <a:prstGeom prst="roundRect">
            <a:avLst>
              <a:gd fmla="val 5143" name="adj"/>
            </a:avLst>
          </a:prstGeom>
          <a:solidFill>
            <a:srgbClr val="1E2748"/>
          </a:solidFill>
          <a:ln cap="flat" cmpd="sng" w="1270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841248" y="3950208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data-driven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1069848" y="457200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контент описано даними — логіка відокремлена від наповнення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5550408" y="1097280"/>
            <a:ext cx="60743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ТИПОВІ ПРОБЛЕМИ ТАКИХ ЗАСТОСУНКІВ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5550408" y="1490472"/>
            <a:ext cx="6074359" cy="749808"/>
          </a:xfrm>
          <a:prstGeom prst="roundRect">
            <a:avLst>
              <a:gd fmla="val 1097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5715000" y="1636776"/>
            <a:ext cx="457200" cy="4572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5715000" y="16367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327648" y="1609344"/>
            <a:ext cx="5114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Перевантаження інформацією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327648" y="1874520"/>
            <a:ext cx="51142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важко оцінити десятки регіонів одночасно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550408" y="2350008"/>
            <a:ext cx="6074359" cy="749808"/>
          </a:xfrm>
          <a:prstGeom prst="roundRect">
            <a:avLst>
              <a:gd fmla="val 1097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5715000" y="2496312"/>
            <a:ext cx="457200" cy="4572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5715000" y="2496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327648" y="2468880"/>
            <a:ext cx="5114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Непрозорість наслідків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327648" y="2734056"/>
            <a:ext cx="51142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немає чіткого зв'язку «причина → ефект»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550408" y="3209544"/>
            <a:ext cx="6074359" cy="749808"/>
          </a:xfrm>
          <a:prstGeom prst="roundRect">
            <a:avLst>
              <a:gd fmla="val 1097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5715000" y="3355848"/>
            <a:ext cx="457200" cy="4572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5715000" y="3355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327648" y="3328416"/>
            <a:ext cx="5114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Баланс покращень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327648" y="3593592"/>
            <a:ext cx="51142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складно зіставляти різнорідні ефекти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550408" y="4069080"/>
            <a:ext cx="6074359" cy="749808"/>
          </a:xfrm>
          <a:prstGeom prst="roundRect">
            <a:avLst>
              <a:gd fmla="val 1097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5715000" y="4215384"/>
            <a:ext cx="457200" cy="4572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5715000" y="42153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327648" y="4187952"/>
            <a:ext cx="5114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Повторюваність подій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327648" y="4453128"/>
            <a:ext cx="51142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статичний контент швидко набридає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550408" y="4928616"/>
            <a:ext cx="6074359" cy="749808"/>
          </a:xfrm>
          <a:prstGeom prst="roundRect">
            <a:avLst>
              <a:gd fmla="val 1097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5715000" y="5074920"/>
            <a:ext cx="457200" cy="4572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5715000" y="5074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327648" y="5047488"/>
            <a:ext cx="5114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Збереження стану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327648" y="5312664"/>
            <a:ext cx="51142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втрата прогресу, несумісні збереження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10362895" y="-1097280"/>
            <a:ext cx="2743200" cy="31089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-914400" y="4645152"/>
            <a:ext cx="2377440" cy="26517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Аналоги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Аналоги та позиціонування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66928" y="1444752"/>
            <a:ext cx="1992112" cy="1965960"/>
          </a:xfrm>
          <a:prstGeom prst="roundRect">
            <a:avLst>
              <a:gd fmla="val 418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306952" y="1737360"/>
            <a:ext cx="512064" cy="51206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777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1450330" y="1880738"/>
            <a:ext cx="225308" cy="22530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58368" y="2359152"/>
            <a:ext cx="1809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Reigns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13232" y="2743200"/>
            <a:ext cx="1699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вибір рішень і миттєві наслідки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833360" y="1444752"/>
            <a:ext cx="1992112" cy="1965960"/>
          </a:xfrm>
          <a:prstGeom prst="roundRect">
            <a:avLst>
              <a:gd fmla="val 418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573384" y="1737360"/>
            <a:ext cx="512064" cy="51206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777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716762" y="1880738"/>
            <a:ext cx="225308" cy="22530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2924800" y="2359152"/>
            <a:ext cx="1809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Democracy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979664" y="2743200"/>
            <a:ext cx="1699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моделювання політики через параметри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099792" y="1444752"/>
            <a:ext cx="1992112" cy="1965960"/>
          </a:xfrm>
          <a:prstGeom prst="roundRect">
            <a:avLst>
              <a:gd fmla="val 418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839816" y="1737360"/>
            <a:ext cx="512064" cy="51206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777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5983194" y="1880738"/>
            <a:ext cx="225308" cy="22530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5191232" y="2359152"/>
            <a:ext cx="1809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Crusader Kings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246096" y="2743200"/>
            <a:ext cx="1699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персонажі, династії, інтриги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366224" y="1444752"/>
            <a:ext cx="1992112" cy="1965960"/>
          </a:xfrm>
          <a:prstGeom prst="roundRect">
            <a:avLst>
              <a:gd fmla="val 418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8106247" y="1737360"/>
            <a:ext cx="512064" cy="51206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777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8249625" y="1880738"/>
            <a:ext cx="225308" cy="22530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7457664" y="2359152"/>
            <a:ext cx="1809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Frostpunk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512528" y="2743200"/>
            <a:ext cx="1699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моральні дилеми та виживання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9632655" y="1444752"/>
            <a:ext cx="1992112" cy="1965960"/>
          </a:xfrm>
          <a:prstGeom prst="roundRect">
            <a:avLst>
              <a:gd fmla="val 418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10372679" y="1737360"/>
            <a:ext cx="512064" cy="51206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777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10516057" y="1880738"/>
            <a:ext cx="225308" cy="22530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9724095" y="2359152"/>
            <a:ext cx="1809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Plague Inc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9778959" y="2743200"/>
            <a:ext cx="1699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поширення по карті регіонів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66928" y="3776472"/>
            <a:ext cx="11057839" cy="1417320"/>
          </a:xfrm>
          <a:prstGeom prst="roundRect">
            <a:avLst>
              <a:gd fmla="val 5806" name="adj"/>
            </a:avLst>
          </a:prstGeom>
          <a:solidFill>
            <a:srgbClr val="1E2748"/>
          </a:solidFill>
          <a:ln cap="flat" cmpd="sng" w="1270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932688" y="39776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ПОЗИЦІОНУВАННЯ INSTITUTE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32688" y="4288536"/>
            <a:ext cx="1032631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Institute поєднує гексагональну карту регіонів, подієвий наратив із моральними дилемами та керовану даними систему рішень — у єдиному працездатному прототипі, де всі підсистеми взаємопов'язані.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-1005840" y="4279392"/>
            <a:ext cx="2926080" cy="329184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10728655" y="-1005840"/>
            <a:ext cx="2560320" cy="283464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11551615" y="1170432"/>
            <a:ext cx="1188720" cy="13716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01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Концепція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Концепція гри Institute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84632" y="1692813"/>
            <a:ext cx="5971032" cy="3710117"/>
          </a:xfrm>
          <a:prstGeom prst="roundRect">
            <a:avLst>
              <a:gd fmla="val 1725" name="adj"/>
            </a:avLst>
          </a:prstGeom>
          <a:solidFill>
            <a:srgbClr val="0C0F18"/>
          </a:solidFill>
          <a:ln cap="flat" cmpd="sng" w="15875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203200" rotWithShape="0" algn="bl" dir="5400000" dist="63500">
              <a:srgbClr val="000000">
                <a:alpha val="5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Users/timkuz/Documents/GitHub/Institute_Unity_Game/presentation/assets/report/clean/fig4_2.png" id="166" name="Google Shape;1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775109"/>
            <a:ext cx="5806440" cy="35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/>
          <p:nvPr/>
        </p:nvSpPr>
        <p:spPr>
          <a:xfrm>
            <a:off x="6876288" y="1371600"/>
            <a:ext cx="4748479" cy="1060704"/>
          </a:xfrm>
          <a:prstGeom prst="roundRect">
            <a:avLst>
              <a:gd fmla="val 7759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876288" y="1481328"/>
            <a:ext cx="64008" cy="841248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7132320" y="1499616"/>
            <a:ext cx="42912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Агент Інституту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132320" y="1792224"/>
            <a:ext cx="4272991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Гравець приховано спостерігає за феодальною планетою з низьким рівнем розвитку.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876288" y="2542032"/>
            <a:ext cx="4748479" cy="1060704"/>
          </a:xfrm>
          <a:prstGeom prst="roundRect">
            <a:avLst>
              <a:gd fmla="val 7759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876288" y="2651760"/>
            <a:ext cx="64008" cy="841248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7132320" y="2670048"/>
            <a:ext cx="42912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Принцип Невтручання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132320" y="2962656"/>
            <a:ext cx="4272991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Прямий вплив обмежено — агент діє непомітно, не порушуючи хід історії.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876288" y="3712464"/>
            <a:ext cx="4748479" cy="1060704"/>
          </a:xfrm>
          <a:prstGeom prst="roundRect">
            <a:avLst>
              <a:gd fmla="val 7759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876288" y="3822192"/>
            <a:ext cx="64008" cy="841248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7132320" y="3840480"/>
            <a:ext cx="42912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Ресурс «Розум»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132320" y="4133088"/>
            <a:ext cx="4272991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Рішення й події тиснуть на психіку агента — це ціна моральних компромісів.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876288" y="4882896"/>
            <a:ext cx="4748479" cy="1060704"/>
          </a:xfrm>
          <a:prstGeom prst="roundRect">
            <a:avLst>
              <a:gd fmla="val 7759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6876288" y="4992624"/>
            <a:ext cx="64008" cy="841248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7132320" y="5010912"/>
            <a:ext cx="42912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Мета гравця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132320" y="5303520"/>
            <a:ext cx="4272991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Нарощувати вплив, не дестабілізуючи світ і не видаючи себе (Exposure).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9997135" y="4187952"/>
            <a:ext cx="3108960" cy="347472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11185855" y="3090672"/>
            <a:ext cx="1554480" cy="17373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01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-822960" y="-914400"/>
            <a:ext cx="2377440" cy="26517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Вимоги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Вимоги до програмної системи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66928" y="1444752"/>
            <a:ext cx="5300320" cy="4206240"/>
          </a:xfrm>
          <a:prstGeom prst="roundRect">
            <a:avLst>
              <a:gd fmla="val 1957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859536" y="1719072"/>
            <a:ext cx="310896" cy="34747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1344168" y="1719072"/>
            <a:ext cx="438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ФУНКЦІОНАЛЬНІ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896112" y="2414016"/>
            <a:ext cx="146304" cy="1645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1207008" y="2359152"/>
            <a:ext cx="4385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Карта у 6 режимах і вибір регіону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96112" y="2980944"/>
            <a:ext cx="146304" cy="1645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1207008" y="2926080"/>
            <a:ext cx="4385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Рішення й покращення з умовами та кулдаунами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96112" y="3547872"/>
            <a:ext cx="146304" cy="1645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1207008" y="3493008"/>
            <a:ext cx="4385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Події з кількома варіантами вибору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96112" y="4114800"/>
            <a:ext cx="146304" cy="1645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1207008" y="4059936"/>
            <a:ext cx="4385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Ресурси: гроші, артефакти, «Розум», Exposure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896112" y="4681728"/>
            <a:ext cx="146304" cy="1645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1207008" y="4626864"/>
            <a:ext cx="4385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Взаємодія з персонажами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896112" y="5248656"/>
            <a:ext cx="146304" cy="1645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1207008" y="5193792"/>
            <a:ext cx="4385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Збереження та завантаження гри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324448" y="1444752"/>
            <a:ext cx="5300320" cy="4206240"/>
          </a:xfrm>
          <a:prstGeom prst="roundRect">
            <a:avLst>
              <a:gd fmla="val 1957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6617056" y="1719072"/>
            <a:ext cx="310896" cy="34747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7B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7101688" y="1719072"/>
            <a:ext cx="438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НЕФУНКЦІОНАЛЬНІ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653632" y="2414016"/>
            <a:ext cx="146304" cy="1645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7B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6964528" y="2359152"/>
            <a:ext cx="438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Продуктивність на типовому ПК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653632" y="3090672"/>
            <a:ext cx="146304" cy="1645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7B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6964528" y="3035808"/>
            <a:ext cx="438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Розширюваність: контент у JSON без зміни коду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653632" y="3767328"/>
            <a:ext cx="146304" cy="1645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7B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6964528" y="3712464"/>
            <a:ext cx="438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Надійність збереження стану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653632" y="4443984"/>
            <a:ext cx="146304" cy="1645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7B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6964528" y="4389120"/>
            <a:ext cx="438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Зрозумілий інтерфейс і зворотний зв'язок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653632" y="5120640"/>
            <a:ext cx="146304" cy="1645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7B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6964528" y="5065776"/>
            <a:ext cx="438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Модульність і слабка зв'язаність систем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/>
          <p:nvPr/>
        </p:nvSpPr>
        <p:spPr>
          <a:xfrm>
            <a:off x="10362895" y="-1097280"/>
            <a:ext cx="2743200" cy="31089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-914400" y="4645152"/>
            <a:ext cx="2377440" cy="26517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Архітектура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Компонентна архітектура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024128" y="1399032"/>
            <a:ext cx="10143439" cy="566928"/>
          </a:xfrm>
          <a:prstGeom prst="roundRect">
            <a:avLst>
              <a:gd fmla="val 14516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1024128" y="1399032"/>
            <a:ext cx="101434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UI Layer — HUD · панелі регіону та персонажів · вікно події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084168" y="2313432"/>
            <a:ext cx="4023360" cy="713232"/>
          </a:xfrm>
          <a:prstGeom prst="roundRect">
            <a:avLst>
              <a:gd fmla="val 11538" name="adj"/>
            </a:avLst>
          </a:prstGeom>
          <a:solidFill>
            <a:srgbClr val="1E2748"/>
          </a:solidFill>
          <a:ln cap="flat" cmpd="sng" w="1270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4084168" y="2423160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Game Controller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084168" y="271576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оркестрація ігрового циклу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66928" y="3502152"/>
            <a:ext cx="2558720" cy="749808"/>
          </a:xfrm>
          <a:prstGeom prst="roundRect">
            <a:avLst>
              <a:gd fmla="val 1097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566928" y="3611880"/>
            <a:ext cx="255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Region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66928" y="3904488"/>
            <a:ext cx="255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регіони, держави, карта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399968" y="3502152"/>
            <a:ext cx="2558720" cy="749808"/>
          </a:xfrm>
          <a:prstGeom prst="roundRect">
            <a:avLst>
              <a:gd fmla="val 1097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3399968" y="3611880"/>
            <a:ext cx="255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Upgrade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3399968" y="3904488"/>
            <a:ext cx="255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рішення та покращення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233008" y="3502152"/>
            <a:ext cx="2558720" cy="749808"/>
          </a:xfrm>
          <a:prstGeom prst="roundRect">
            <a:avLst>
              <a:gd fmla="val 1097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6233008" y="3611880"/>
            <a:ext cx="255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Event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233008" y="3904488"/>
            <a:ext cx="255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події та наслідки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9066047" y="3502152"/>
            <a:ext cx="2558720" cy="749808"/>
          </a:xfrm>
          <a:prstGeom prst="roundRect">
            <a:avLst>
              <a:gd fmla="val 1097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9066047" y="3611880"/>
            <a:ext cx="255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Sanity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9066047" y="3904488"/>
            <a:ext cx="255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«Розум» і Exposure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1024128" y="4690872"/>
            <a:ext cx="10143439" cy="603504"/>
          </a:xfrm>
          <a:prstGeom prst="roundRect">
            <a:avLst>
              <a:gd fmla="val 13636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1024128" y="4690872"/>
            <a:ext cx="10143439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Unity Runtime · C# · JSON-дані (data-driven)   +   Save Manager — збереження стану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7"/>
          <p:cNvCxnSpPr/>
          <p:nvPr/>
        </p:nvCxnSpPr>
        <p:spPr>
          <a:xfrm>
            <a:off x="6095848" y="1965960"/>
            <a:ext cx="0" cy="347472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2" name="Google Shape;252;p7"/>
          <p:cNvCxnSpPr/>
          <p:nvPr/>
        </p:nvCxnSpPr>
        <p:spPr>
          <a:xfrm flipH="1">
            <a:off x="1846288" y="3026664"/>
            <a:ext cx="4249560" cy="475488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" name="Google Shape;253;p7"/>
          <p:cNvCxnSpPr/>
          <p:nvPr/>
        </p:nvCxnSpPr>
        <p:spPr>
          <a:xfrm flipH="1">
            <a:off x="4679328" y="3026664"/>
            <a:ext cx="1416520" cy="475488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" name="Google Shape;254;p7"/>
          <p:cNvCxnSpPr/>
          <p:nvPr/>
        </p:nvCxnSpPr>
        <p:spPr>
          <a:xfrm>
            <a:off x="6095848" y="3026664"/>
            <a:ext cx="1416520" cy="475488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6095848" y="3026664"/>
            <a:ext cx="4249560" cy="475488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p7"/>
          <p:cNvCxnSpPr/>
          <p:nvPr/>
        </p:nvCxnSpPr>
        <p:spPr>
          <a:xfrm>
            <a:off x="1846288" y="4251960"/>
            <a:ext cx="0" cy="438912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7"/>
          <p:cNvCxnSpPr/>
          <p:nvPr/>
        </p:nvCxnSpPr>
        <p:spPr>
          <a:xfrm>
            <a:off x="4679328" y="4251960"/>
            <a:ext cx="0" cy="438912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" name="Google Shape;258;p7"/>
          <p:cNvCxnSpPr/>
          <p:nvPr/>
        </p:nvCxnSpPr>
        <p:spPr>
          <a:xfrm>
            <a:off x="7512367" y="4251960"/>
            <a:ext cx="0" cy="438912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7"/>
          <p:cNvCxnSpPr/>
          <p:nvPr/>
        </p:nvCxnSpPr>
        <p:spPr>
          <a:xfrm>
            <a:off x="10345407" y="4251960"/>
            <a:ext cx="0" cy="438912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7"/>
          <p:cNvSpPr/>
          <p:nvPr/>
        </p:nvSpPr>
        <p:spPr>
          <a:xfrm>
            <a:off x="566928" y="5404104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Слабка зв'язаність: дані відокремлено від логіки; системи взаємодіють через Game Controller.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"/>
          <p:cNvSpPr/>
          <p:nvPr/>
        </p:nvSpPr>
        <p:spPr>
          <a:xfrm>
            <a:off x="-1005840" y="4279392"/>
            <a:ext cx="2926080" cy="329184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10728655" y="-1005840"/>
            <a:ext cx="2560320" cy="283464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11551615" y="1170432"/>
            <a:ext cx="1188720" cy="13716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01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Модель світу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Світ на трьох рівнях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66928" y="1536192"/>
            <a:ext cx="4937760" cy="960120"/>
          </a:xfrm>
          <a:prstGeom prst="roundRect">
            <a:avLst>
              <a:gd fmla="val 8571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566928" y="1627632"/>
            <a:ext cx="73152" cy="77724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841248" y="1682496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Держави   </a:t>
            </a:r>
            <a:r>
              <a:rPr b="1" i="0" lang="en-US" sz="1600" u="none" cap="none" strike="noStrike">
                <a:solidFill>
                  <a:srgbClr val="7C5CFC"/>
                </a:solidFill>
                <a:latin typeface="Trebuchet MS"/>
                <a:ea typeface="Trebuchet MS"/>
                <a:cs typeface="Trebuchet MS"/>
                <a:sym typeface="Trebuchet MS"/>
              </a:rPr>
              <a:t>StateData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841248" y="2039112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політичні об'єднання регіонів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8"/>
          <p:cNvCxnSpPr/>
          <p:nvPr/>
        </p:nvCxnSpPr>
        <p:spPr>
          <a:xfrm>
            <a:off x="1389888" y="2496312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7" name="Google Shape;277;p8"/>
          <p:cNvSpPr/>
          <p:nvPr/>
        </p:nvSpPr>
        <p:spPr>
          <a:xfrm>
            <a:off x="566928" y="2697480"/>
            <a:ext cx="5486400" cy="960120"/>
          </a:xfrm>
          <a:prstGeom prst="roundRect">
            <a:avLst>
              <a:gd fmla="val 8571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566928" y="2788920"/>
            <a:ext cx="73152" cy="777240"/>
          </a:xfrm>
          <a:prstGeom prst="rect">
            <a:avLst/>
          </a:prstGeom>
          <a:solidFill>
            <a:srgbClr val="6A8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841248" y="284378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Регіони   </a:t>
            </a:r>
            <a:r>
              <a:rPr b="1" i="0" lang="en-US" sz="1600" u="none" cap="none" strike="noStrike">
                <a:solidFill>
                  <a:srgbClr val="6A8BFF"/>
                </a:solidFill>
                <a:latin typeface="Trebuchet MS"/>
                <a:ea typeface="Trebuchet MS"/>
                <a:cs typeface="Trebuchet MS"/>
                <a:sym typeface="Trebuchet MS"/>
              </a:rPr>
              <a:t>RegionData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841248" y="3200400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одиниця керування · Вплив / Стабільність / Розвиток (0–20)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8"/>
          <p:cNvCxnSpPr/>
          <p:nvPr/>
        </p:nvCxnSpPr>
        <p:spPr>
          <a:xfrm>
            <a:off x="1389888" y="3657600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2" name="Google Shape;282;p8"/>
          <p:cNvSpPr/>
          <p:nvPr/>
        </p:nvSpPr>
        <p:spPr>
          <a:xfrm>
            <a:off x="566928" y="3858768"/>
            <a:ext cx="5486400" cy="960120"/>
          </a:xfrm>
          <a:prstGeom prst="roundRect">
            <a:avLst>
              <a:gd fmla="val 8571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566928" y="3950208"/>
            <a:ext cx="73152" cy="777240"/>
          </a:xfrm>
          <a:prstGeom prst="rect">
            <a:avLst/>
          </a:prstGeom>
          <a:solidFill>
            <a:srgbClr val="57B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841248" y="400507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Гекс-клітинки   </a:t>
            </a:r>
            <a:r>
              <a:rPr b="1" i="0" lang="en-US" sz="1600" u="none" cap="none" strike="noStrike">
                <a:solidFill>
                  <a:srgbClr val="57B6E0"/>
                </a:solidFill>
                <a:latin typeface="Trebuchet MS"/>
                <a:ea typeface="Trebuchet MS"/>
                <a:cs typeface="Trebuchet MS"/>
                <a:sym typeface="Trebuchet MS"/>
              </a:rPr>
              <a:t>HexTileData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841248" y="4361688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рельєф, біом, координати на карті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566928" y="5038344"/>
            <a:ext cx="5852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WorldMapData</a:t>
            </a:r>
            <a:r>
              <a:rPr b="0" i="0" lang="en-US" sz="12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  — агрегує карту, держави й регіони, підтримує збереження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6556248" y="1170432"/>
            <a:ext cx="50685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ЖИВИЙ ПРИКЛАД: ПАНЕЛЬ РЕГІОНУ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7019459" y="1408176"/>
            <a:ext cx="4142098" cy="4325112"/>
          </a:xfrm>
          <a:prstGeom prst="roundRect">
            <a:avLst>
              <a:gd fmla="val 1545" name="adj"/>
            </a:avLst>
          </a:prstGeom>
          <a:solidFill>
            <a:srgbClr val="0C0F18"/>
          </a:solidFill>
          <a:ln cap="flat" cmpd="sng" w="15875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203200" rotWithShape="0" algn="bl" dir="5400000" dist="63500">
              <a:srgbClr val="000000">
                <a:alpha val="5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Users/timkuz/Documents/GitHub/Institute_Unity_Game/presentation/assets/report/fig4_7.png" id="289" name="Google Shape;2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1755" y="1490472"/>
            <a:ext cx="3977506" cy="4160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10362895" y="-1097280"/>
            <a:ext cx="2743200" cy="31089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-914400" y="4645152"/>
            <a:ext cx="2377440" cy="26517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Генерація карти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Процедурна генерація карти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1131799" y="1399032"/>
            <a:ext cx="713232" cy="71323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1131799" y="139903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566928" y="2157984"/>
            <a:ext cx="18429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Гексагональна сітка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566928" y="2587752"/>
            <a:ext cx="18429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побудова поля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9"/>
          <p:cNvCxnSpPr/>
          <p:nvPr/>
        </p:nvCxnSpPr>
        <p:spPr>
          <a:xfrm>
            <a:off x="1845031" y="1755648"/>
            <a:ext cx="1129741" cy="0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" name="Google Shape;305;p9"/>
          <p:cNvSpPr/>
          <p:nvPr/>
        </p:nvSpPr>
        <p:spPr>
          <a:xfrm>
            <a:off x="2974772" y="1399032"/>
            <a:ext cx="713232" cy="71323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2974772" y="139903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2409901" y="2157984"/>
            <a:ext cx="18429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Рельєф і біоми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2409901" y="2587752"/>
            <a:ext cx="18429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висоти, місцевість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3688004" y="1755648"/>
            <a:ext cx="1129741" cy="0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0" name="Google Shape;310;p9"/>
          <p:cNvSpPr/>
          <p:nvPr/>
        </p:nvSpPr>
        <p:spPr>
          <a:xfrm>
            <a:off x="4817745" y="1399032"/>
            <a:ext cx="713232" cy="71323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4817745" y="139903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252874" y="2157984"/>
            <a:ext cx="18429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Центри регіонів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252874" y="2587752"/>
            <a:ext cx="18429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опорні клітинки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9"/>
          <p:cNvCxnSpPr/>
          <p:nvPr/>
        </p:nvCxnSpPr>
        <p:spPr>
          <a:xfrm>
            <a:off x="5530977" y="1755648"/>
            <a:ext cx="1129741" cy="0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9"/>
          <p:cNvSpPr/>
          <p:nvPr/>
        </p:nvSpPr>
        <p:spPr>
          <a:xfrm>
            <a:off x="6660718" y="1399032"/>
            <a:ext cx="713232" cy="71323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6660718" y="139903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095848" y="2157984"/>
            <a:ext cx="18429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Розростання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095848" y="2587752"/>
            <a:ext cx="18429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weighted BFS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9"/>
          <p:cNvCxnSpPr/>
          <p:nvPr/>
        </p:nvCxnSpPr>
        <p:spPr>
          <a:xfrm>
            <a:off x="7373950" y="1755648"/>
            <a:ext cx="1129741" cy="0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" name="Google Shape;320;p9"/>
          <p:cNvSpPr/>
          <p:nvPr/>
        </p:nvSpPr>
        <p:spPr>
          <a:xfrm>
            <a:off x="8503691" y="1399032"/>
            <a:ext cx="713232" cy="71323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8503691" y="139903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7938821" y="2157984"/>
            <a:ext cx="18429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Параметри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7938821" y="2587752"/>
            <a:ext cx="18429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0–20 на регіон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9"/>
          <p:cNvCxnSpPr/>
          <p:nvPr/>
        </p:nvCxnSpPr>
        <p:spPr>
          <a:xfrm>
            <a:off x="9216923" y="1755648"/>
            <a:ext cx="1129741" cy="0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5" name="Google Shape;325;p9"/>
          <p:cNvSpPr/>
          <p:nvPr/>
        </p:nvSpPr>
        <p:spPr>
          <a:xfrm>
            <a:off x="10346665" y="1399032"/>
            <a:ext cx="713232" cy="71323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10346665" y="139903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9781794" y="2157984"/>
            <a:ext cx="18429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Кордони й держави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9781794" y="2587752"/>
            <a:ext cx="18429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межі та належність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66928" y="3136392"/>
            <a:ext cx="4572000" cy="960120"/>
          </a:xfrm>
          <a:prstGeom prst="roundRect">
            <a:avLst>
              <a:gd fmla="val 8571" name="adj"/>
            </a:avLst>
          </a:prstGeom>
          <a:solidFill>
            <a:srgbClr val="1E2748"/>
          </a:solidFill>
          <a:ln cap="flat" cmpd="sng" w="1270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841248" y="3282696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ВІДТВОРЮВАНІСТЬ ЗА SEED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841248" y="3557016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Однаковий seed → однакова карта.   Tiles 768 · Regions 14 · Seed 12345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66928" y="42336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РЕЖИМИ ВІДОБРАЖЕННЯ КАРТИ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566928" y="4526280"/>
            <a:ext cx="1414272" cy="457200"/>
          </a:xfrm>
          <a:prstGeom prst="roundRect">
            <a:avLst>
              <a:gd fmla="val 14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566928" y="4526280"/>
            <a:ext cx="1414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Terrain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2145792" y="4526280"/>
            <a:ext cx="1414272" cy="457200"/>
          </a:xfrm>
          <a:prstGeom prst="roundRect">
            <a:avLst>
              <a:gd fmla="val 14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2145792" y="4526280"/>
            <a:ext cx="1414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Political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3724656" y="4526280"/>
            <a:ext cx="1414272" cy="457200"/>
          </a:xfrm>
          <a:prstGeom prst="roundRect">
            <a:avLst>
              <a:gd fmla="val 14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3724656" y="4526280"/>
            <a:ext cx="1414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Influence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66928" y="5111496"/>
            <a:ext cx="1414272" cy="457200"/>
          </a:xfrm>
          <a:prstGeom prst="roundRect">
            <a:avLst>
              <a:gd fmla="val 14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566928" y="5111496"/>
            <a:ext cx="1414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Stability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2145792" y="5111496"/>
            <a:ext cx="1414272" cy="457200"/>
          </a:xfrm>
          <a:prstGeom prst="roundRect">
            <a:avLst>
              <a:gd fmla="val 14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2145792" y="5111496"/>
            <a:ext cx="1414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3724656" y="5111496"/>
            <a:ext cx="1414272" cy="457200"/>
          </a:xfrm>
          <a:prstGeom prst="roundRect">
            <a:avLst>
              <a:gd fmla="val 14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3724656" y="5111496"/>
            <a:ext cx="1414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Danger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319346" y="3008376"/>
            <a:ext cx="4582204" cy="2862072"/>
          </a:xfrm>
          <a:prstGeom prst="roundRect">
            <a:avLst>
              <a:gd fmla="val 2236" name="adj"/>
            </a:avLst>
          </a:prstGeom>
          <a:solidFill>
            <a:srgbClr val="0C0F18"/>
          </a:solidFill>
          <a:ln cap="flat" cmpd="sng" w="15875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203200" rotWithShape="0" algn="bl" dir="5400000" dist="63500">
              <a:srgbClr val="000000">
                <a:alpha val="5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Users/timkuz/Documents/GitHub/Institute_Unity_Game/presentation/assets/report/clean/fig4_5.png" id="346" name="Google Shape;3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1642" y="3090672"/>
            <a:ext cx="4417612" cy="269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"/>
          <p:cNvSpPr/>
          <p:nvPr/>
        </p:nvSpPr>
        <p:spPr>
          <a:xfrm>
            <a:off x="9997135" y="4187952"/>
            <a:ext cx="3108960" cy="347472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11185855" y="3090672"/>
            <a:ext cx="1554480" cy="17373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01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-822960" y="-914400"/>
            <a:ext cx="2377440" cy="26517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Рішення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Система рішень і покращень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0"/>
          <p:cNvCxnSpPr/>
          <p:nvPr/>
        </p:nvCxnSpPr>
        <p:spPr>
          <a:xfrm>
            <a:off x="886968" y="1627632"/>
            <a:ext cx="0" cy="3474720"/>
          </a:xfrm>
          <a:prstGeom prst="straightConnector1">
            <a:avLst/>
          </a:prstGeom>
          <a:noFill/>
          <a:ln cap="flat" cmpd="sng" w="2030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0"/>
          <p:cNvSpPr/>
          <p:nvPr/>
        </p:nvSpPr>
        <p:spPr>
          <a:xfrm>
            <a:off x="704088" y="1444752"/>
            <a:ext cx="36576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777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704088" y="1444752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1271016" y="1444752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Вибір регіону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704088" y="2139696"/>
            <a:ext cx="36576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777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704088" y="2139696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271016" y="2139696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Перевірка умов рішення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704088" y="2834640"/>
            <a:ext cx="36576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777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704088" y="2834640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1271016" y="2834640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Перевірка ресурсів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704088" y="3529584"/>
            <a:ext cx="36576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777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704088" y="3529584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1271016" y="3529584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Застосування ефектів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704088" y="4224528"/>
            <a:ext cx="36576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777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704088" y="4224528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1271016" y="4224528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Запуск кулдауну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704088" y="4919472"/>
            <a:ext cx="36576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777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704088" y="4919472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1271016" y="4919472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Оновлення HUD і карти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6144768" y="1444752"/>
            <a:ext cx="5479999" cy="1371600"/>
          </a:xfrm>
          <a:prstGeom prst="roundRect">
            <a:avLst>
              <a:gd fmla="val 6000" name="adj"/>
            </a:avLst>
          </a:prstGeom>
          <a:solidFill>
            <a:srgbClr val="1E2748"/>
          </a:solidFill>
          <a:ln cap="flat" cmpd="sng" w="1270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6419088" y="1591056"/>
            <a:ext cx="49313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ФОРМУЛА ЦІННОСТІ РІШЕННЯ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6419088" y="1901952"/>
            <a:ext cx="4931359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V = </a:t>
            </a:r>
            <a:r>
              <a:rPr b="1" i="0" lang="en-US" sz="1700" u="none" cap="none" strike="noStrike">
                <a:solidFill>
                  <a:srgbClr val="6A8BFF"/>
                </a:solidFill>
                <a:latin typeface="Trebuchet MS"/>
                <a:ea typeface="Trebuchet MS"/>
                <a:cs typeface="Trebuchet MS"/>
                <a:sym typeface="Trebuchet MS"/>
              </a:rPr>
              <a:t>1.0·ΔВплив </a:t>
            </a:r>
            <a:r>
              <a:rPr b="1" i="0" lang="en-US" sz="1700" u="none" cap="none" strike="noStrike">
                <a:solidFill>
                  <a:srgbClr val="57B6E0"/>
                </a:solidFill>
                <a:latin typeface="Trebuchet MS"/>
                <a:ea typeface="Trebuchet MS"/>
                <a:cs typeface="Trebuchet MS"/>
                <a:sym typeface="Trebuchet MS"/>
              </a:rPr>
              <a:t>+ 1.2·ΔСтабільність </a:t>
            </a:r>
            <a:r>
              <a:rPr b="1" i="0" lang="en-US" sz="1700" u="none" cap="none" strike="noStrike">
                <a:solidFill>
                  <a:srgbClr val="E0B252"/>
                </a:solidFill>
                <a:latin typeface="Trebuchet MS"/>
                <a:ea typeface="Trebuchet MS"/>
                <a:cs typeface="Trebuchet MS"/>
                <a:sym typeface="Trebuchet MS"/>
              </a:rPr>
              <a:t>+ 1.1·ΔРозвиток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+ 1.4·ΔРозум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6144768" y="3017520"/>
            <a:ext cx="547999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ВАГОВІ КОЕФІЦІЄНТИ ПАРАМЕТРІВ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6144768" y="3346704"/>
            <a:ext cx="5479999" cy="457200"/>
          </a:xfrm>
          <a:prstGeom prst="roundRect">
            <a:avLst>
              <a:gd fmla="val 18000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6327648" y="3447288"/>
            <a:ext cx="256032" cy="27432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6A8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6739128" y="3346704"/>
            <a:ext cx="38340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ΔВплив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10573207" y="3346704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×1.0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6144768" y="3840480"/>
            <a:ext cx="5479999" cy="457200"/>
          </a:xfrm>
          <a:prstGeom prst="roundRect">
            <a:avLst>
              <a:gd fmla="val 18000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6327648" y="3941064"/>
            <a:ext cx="256032" cy="27432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7B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6739128" y="3840480"/>
            <a:ext cx="38340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ΔСтабільність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10573207" y="384048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×1.2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6144768" y="4334256"/>
            <a:ext cx="5479999" cy="457200"/>
          </a:xfrm>
          <a:prstGeom prst="roundRect">
            <a:avLst>
              <a:gd fmla="val 18000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6327648" y="4434840"/>
            <a:ext cx="256032" cy="27432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0B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6739128" y="4334256"/>
            <a:ext cx="38340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ΔРозвиток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10573207" y="4334256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×1.1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6144768" y="4828032"/>
            <a:ext cx="5479999" cy="457200"/>
          </a:xfrm>
          <a:prstGeom prst="roundRect">
            <a:avLst>
              <a:gd fmla="val 18000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6327648" y="4928616"/>
            <a:ext cx="256032" cy="27432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B8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6739128" y="4828032"/>
            <a:ext cx="38340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ΔРозум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10573207" y="4828032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×1.4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6144768" y="5358384"/>
            <a:ext cx="547999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«Розум» має найбільшу вагу — як ціна морального вибору.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1"/>
          <p:cNvSpPr/>
          <p:nvPr/>
        </p:nvSpPr>
        <p:spPr>
          <a:xfrm>
            <a:off x="-1005840" y="4279392"/>
            <a:ext cx="2926080" cy="329184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10728655" y="-1005840"/>
            <a:ext cx="2560320" cy="283464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11551615" y="1170432"/>
            <a:ext cx="1188720" cy="13716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01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Події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Подієва система (data-driven)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514989" y="1453896"/>
            <a:ext cx="6138917" cy="4187952"/>
          </a:xfrm>
          <a:prstGeom prst="roundRect">
            <a:avLst>
              <a:gd fmla="val 1528" name="adj"/>
            </a:avLst>
          </a:prstGeom>
          <a:solidFill>
            <a:srgbClr val="0C0F18"/>
          </a:solidFill>
          <a:ln cap="flat" cmpd="sng" w="15875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203200" rotWithShape="0" algn="bl" dir="5400000" dist="63500">
              <a:srgbClr val="000000">
                <a:alpha val="5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Users/timkuz/Documents/GitHub/Institute_Unity_Game/presentation/assets/report/fig4_9.png" id="410" name="Google Shape;4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285" y="1536192"/>
            <a:ext cx="5974325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1"/>
          <p:cNvSpPr/>
          <p:nvPr/>
        </p:nvSpPr>
        <p:spPr>
          <a:xfrm>
            <a:off x="7104888" y="1399032"/>
            <a:ext cx="4519879" cy="1188720"/>
          </a:xfrm>
          <a:prstGeom prst="roundRect">
            <a:avLst>
              <a:gd fmla="val 6923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7360920" y="1554480"/>
            <a:ext cx="400781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Події описано у форматі JSON: умови появи, текст, до трьох варіантів вибору та їх наслідки. Новий контент додається без зміни коду.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7104888" y="2770632"/>
            <a:ext cx="45198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ЖИТТЄВИЙ ЦИКЛ ПОДІЇ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7141464" y="3127248"/>
            <a:ext cx="292608" cy="31089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7141464" y="3127248"/>
            <a:ext cx="2926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7562088" y="3090672"/>
            <a:ext cx="39712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Тригер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7141464" y="3570732"/>
            <a:ext cx="292608" cy="31089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7141464" y="3570732"/>
            <a:ext cx="2926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7562088" y="3534156"/>
            <a:ext cx="39712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Перевірка умов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7141464" y="4014216"/>
            <a:ext cx="292608" cy="31089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7141464" y="4014216"/>
            <a:ext cx="2926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7562088" y="3977640"/>
            <a:ext cx="39712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Вибір варіанта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7141464" y="4457700"/>
            <a:ext cx="292608" cy="31089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7141464" y="4457700"/>
            <a:ext cx="2926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7562088" y="4421124"/>
            <a:ext cx="39712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Перевірка вартості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7141464" y="4901184"/>
            <a:ext cx="292608" cy="31089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7141464" y="4901184"/>
            <a:ext cx="2926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7562088" y="4864608"/>
            <a:ext cx="39712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Наслідки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7141464" y="5344668"/>
            <a:ext cx="292608" cy="31089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52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7141464" y="5344668"/>
            <a:ext cx="2926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7562088" y="5308092"/>
            <a:ext cx="39712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Запис у журнал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2"/>
          <p:cNvSpPr/>
          <p:nvPr/>
        </p:nvSpPr>
        <p:spPr>
          <a:xfrm>
            <a:off x="10362895" y="-1097280"/>
            <a:ext cx="2743200" cy="31089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-914400" y="4645152"/>
            <a:ext cx="2377440" cy="26517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Персонажі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Система персонажів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820102" y="1225296"/>
            <a:ext cx="1779652" cy="4599432"/>
          </a:xfrm>
          <a:prstGeom prst="roundRect">
            <a:avLst>
              <a:gd fmla="val 3597" name="adj"/>
            </a:avLst>
          </a:prstGeom>
          <a:solidFill>
            <a:srgbClr val="0C0F18"/>
          </a:solidFill>
          <a:ln cap="flat" cmpd="sng" w="15875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203200" rotWithShape="0" algn="bl" dir="5400000" dist="63500">
              <a:srgbClr val="000000">
                <a:alpha val="5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Users/timkuz/Documents/GitHub/Institute_Unity_Game/presentation/assets/report/fig4_10.png" id="443" name="Google Shape;4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398" y="1307592"/>
            <a:ext cx="161506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2"/>
          <p:cNvSpPr/>
          <p:nvPr/>
        </p:nvSpPr>
        <p:spPr>
          <a:xfrm>
            <a:off x="3401568" y="1353312"/>
            <a:ext cx="8223199" cy="960120"/>
          </a:xfrm>
          <a:prstGeom prst="roundRect">
            <a:avLst>
              <a:gd fmla="val 8571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3675888" y="1490472"/>
            <a:ext cx="767455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Типи персонажів:  </a:t>
            </a:r>
            <a:r>
              <a:rPr b="1" i="0" lang="en-US" sz="140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правителі · вчені · торговці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3675888" y="1810512"/>
            <a:ext cx="76745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Персонажі прив'язані до регіонів; стосунки з ними впливають на доступні рішення та розвиток подій.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3401568" y="2496312"/>
            <a:ext cx="822319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ПАРАМЕТРИ ПЕРСОНАЖА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3401568" y="2816352"/>
            <a:ext cx="324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Лояльність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6461608" y="2816352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16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3401568" y="3063240"/>
            <a:ext cx="3883000" cy="100584"/>
          </a:xfrm>
          <a:prstGeom prst="roundRect">
            <a:avLst>
              <a:gd fmla="val 50000" name="adj"/>
            </a:avLst>
          </a:prstGeom>
          <a:solidFill>
            <a:srgbClr val="232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3401568" y="3063240"/>
            <a:ext cx="3106400" cy="100584"/>
          </a:xfrm>
          <a:prstGeom prst="roundRect">
            <a:avLst>
              <a:gd fmla="val 50000" name="adj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7741768" y="2816352"/>
            <a:ext cx="324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Довіра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10801807" y="2816352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7741768" y="3063240"/>
            <a:ext cx="3883000" cy="100584"/>
          </a:xfrm>
          <a:prstGeom prst="roundRect">
            <a:avLst>
              <a:gd fmla="val 50000" name="adj"/>
            </a:avLst>
          </a:prstGeom>
          <a:solidFill>
            <a:srgbClr val="232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7741768" y="3063240"/>
            <a:ext cx="2329800" cy="100584"/>
          </a:xfrm>
          <a:prstGeom prst="roundRect">
            <a:avLst>
              <a:gd fmla="val 50000" name="adj"/>
            </a:avLst>
          </a:prstGeom>
          <a:solidFill>
            <a:srgbClr val="6A8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3401568" y="3474720"/>
            <a:ext cx="324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Страх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6461608" y="3474720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3401568" y="3721608"/>
            <a:ext cx="3883000" cy="100584"/>
          </a:xfrm>
          <a:prstGeom prst="roundRect">
            <a:avLst>
              <a:gd fmla="val 50000" name="adj"/>
            </a:avLst>
          </a:prstGeom>
          <a:solidFill>
            <a:srgbClr val="232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3401568" y="3721608"/>
            <a:ext cx="1359050" cy="100584"/>
          </a:xfrm>
          <a:prstGeom prst="roundRect">
            <a:avLst>
              <a:gd fmla="val 50000" name="adj"/>
            </a:avLst>
          </a:prstGeom>
          <a:solidFill>
            <a:srgbClr val="CD60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7741768" y="3474720"/>
            <a:ext cx="324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Амбіції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10801807" y="3474720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7741768" y="3721608"/>
            <a:ext cx="3883000" cy="100584"/>
          </a:xfrm>
          <a:prstGeom prst="roundRect">
            <a:avLst>
              <a:gd fmla="val 50000" name="adj"/>
            </a:avLst>
          </a:prstGeom>
          <a:solidFill>
            <a:srgbClr val="232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7741768" y="3721608"/>
            <a:ext cx="2718100" cy="100584"/>
          </a:xfrm>
          <a:prstGeom prst="roundRect">
            <a:avLst>
              <a:gd fmla="val 50000" name="adj"/>
            </a:avLst>
          </a:prstGeom>
          <a:solidFill>
            <a:srgbClr val="E0B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3401568" y="4325112"/>
            <a:ext cx="822319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ВЗАЄМОДІЇ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3401568" y="4645152"/>
            <a:ext cx="1556857" cy="457200"/>
          </a:xfrm>
          <a:prstGeom prst="roundRect">
            <a:avLst>
              <a:gd fmla="val 50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3401568" y="4645152"/>
            <a:ext cx="155685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Переговори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5068153" y="4645152"/>
            <a:ext cx="1556857" cy="457200"/>
          </a:xfrm>
          <a:prstGeom prst="roundRect">
            <a:avLst>
              <a:gd fmla="val 50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5068153" y="4645152"/>
            <a:ext cx="155685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Підкуп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6734739" y="4645152"/>
            <a:ext cx="1556857" cy="457200"/>
          </a:xfrm>
          <a:prstGeom prst="roundRect">
            <a:avLst>
              <a:gd fmla="val 50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6734739" y="4645152"/>
            <a:ext cx="155685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Підтримка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8401324" y="4645152"/>
            <a:ext cx="1556857" cy="457200"/>
          </a:xfrm>
          <a:prstGeom prst="roundRect">
            <a:avLst>
              <a:gd fmla="val 50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8401324" y="4645152"/>
            <a:ext cx="155685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Вербування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10067910" y="4645152"/>
            <a:ext cx="1556857" cy="457200"/>
          </a:xfrm>
          <a:prstGeom prst="roundRect">
            <a:avLst>
              <a:gd fmla="val 50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10067910" y="4645152"/>
            <a:ext cx="155685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Розслідування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3"/>
          <p:cNvSpPr/>
          <p:nvPr/>
        </p:nvSpPr>
        <p:spPr>
          <a:xfrm>
            <a:off x="9997135" y="4187952"/>
            <a:ext cx="3108960" cy="347472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"/>
          <p:cNvSpPr/>
          <p:nvPr/>
        </p:nvSpPr>
        <p:spPr>
          <a:xfrm>
            <a:off x="11185855" y="3090672"/>
            <a:ext cx="1554480" cy="17373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01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-822960" y="-914400"/>
            <a:ext cx="2377440" cy="26517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Економіка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Економіка та умови гри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2342889" y="1344168"/>
            <a:ext cx="7505918" cy="978408"/>
          </a:xfrm>
          <a:prstGeom prst="roundRect">
            <a:avLst>
              <a:gd fmla="val 6542" name="adj"/>
            </a:avLst>
          </a:prstGeom>
          <a:solidFill>
            <a:srgbClr val="0C0F18"/>
          </a:solidFill>
          <a:ln cap="flat" cmpd="sng" w="15875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203200" rotWithShape="0" algn="bl" dir="5400000" dist="63500">
              <a:srgbClr val="000000">
                <a:alpha val="5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Users/timkuz/Documents/GitHub/Institute_Unity_Game/presentation/assets/report/fig4_11.png" id="487" name="Google Shape;4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7753" y="1399032"/>
            <a:ext cx="739619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3"/>
          <p:cNvSpPr/>
          <p:nvPr/>
        </p:nvSpPr>
        <p:spPr>
          <a:xfrm>
            <a:off x="566928" y="2496312"/>
            <a:ext cx="2926080" cy="1417320"/>
          </a:xfrm>
          <a:prstGeom prst="roundRect">
            <a:avLst>
              <a:gd fmla="val 580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3"/>
          <p:cNvSpPr/>
          <p:nvPr/>
        </p:nvSpPr>
        <p:spPr>
          <a:xfrm>
            <a:off x="795528" y="2743200"/>
            <a:ext cx="310896" cy="34747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0B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1280160" y="2752344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Гроші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841248" y="3209544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щоденний дохід; витрати на рішення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3767328" y="2496312"/>
            <a:ext cx="2926080" cy="1417320"/>
          </a:xfrm>
          <a:prstGeom prst="roundRect">
            <a:avLst>
              <a:gd fmla="val 580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3"/>
          <p:cNvSpPr/>
          <p:nvPr/>
        </p:nvSpPr>
        <p:spPr>
          <a:xfrm>
            <a:off x="3995928" y="2743200"/>
            <a:ext cx="310896" cy="34747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7B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"/>
          <p:cNvSpPr/>
          <p:nvPr/>
        </p:nvSpPr>
        <p:spPr>
          <a:xfrm>
            <a:off x="4480560" y="2752344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Артефакти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4041648" y="3209544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рідкісний ресурс для особливих дій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566928" y="4114800"/>
            <a:ext cx="2926080" cy="1417320"/>
          </a:xfrm>
          <a:prstGeom prst="roundRect">
            <a:avLst>
              <a:gd fmla="val 580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795528" y="4361688"/>
            <a:ext cx="310896" cy="34747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B8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3"/>
          <p:cNvSpPr/>
          <p:nvPr/>
        </p:nvSpPr>
        <p:spPr>
          <a:xfrm>
            <a:off x="1280160" y="437083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Розум (Sanity)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841248" y="4828032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психічний стан агента; падає від рішень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3767328" y="4114800"/>
            <a:ext cx="2926080" cy="1417320"/>
          </a:xfrm>
          <a:prstGeom prst="roundRect">
            <a:avLst>
              <a:gd fmla="val 580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3"/>
          <p:cNvSpPr/>
          <p:nvPr/>
        </p:nvSpPr>
        <p:spPr>
          <a:xfrm>
            <a:off x="3995928" y="4361688"/>
            <a:ext cx="310896" cy="34747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CD60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"/>
          <p:cNvSpPr/>
          <p:nvPr/>
        </p:nvSpPr>
        <p:spPr>
          <a:xfrm>
            <a:off x="4480560" y="437083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Exposure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4041648" y="4828032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ризик викриття Інституту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7150608" y="2496312"/>
            <a:ext cx="4474159" cy="3035808"/>
          </a:xfrm>
          <a:prstGeom prst="roundRect">
            <a:avLst>
              <a:gd fmla="val 2711" name="adj"/>
            </a:avLst>
          </a:prstGeom>
          <a:solidFill>
            <a:srgbClr val="1E2748"/>
          </a:solidFill>
          <a:ln cap="flat" cmpd="sng" w="1270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7424928" y="2679192"/>
            <a:ext cx="39255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УМОВИ ГРИ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7424928" y="3099816"/>
            <a:ext cx="256032" cy="29260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B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3"/>
          <p:cNvSpPr/>
          <p:nvPr/>
        </p:nvSpPr>
        <p:spPr>
          <a:xfrm>
            <a:off x="7808976" y="3063240"/>
            <a:ext cx="355975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08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5BC08A"/>
                </a:solidFill>
                <a:latin typeface="Trebuchet MS"/>
                <a:ea typeface="Trebuchet MS"/>
                <a:cs typeface="Trebuchet MS"/>
                <a:sym typeface="Trebuchet MS"/>
              </a:rPr>
              <a:t>Перемога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7424928" y="3410712"/>
            <a:ext cx="392551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вплив у регіонах ≥ 16 / 20 при контрольованому Exposure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7424928" y="4160520"/>
            <a:ext cx="256032" cy="29260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CD60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7808976" y="4123944"/>
            <a:ext cx="355975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6076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D6076"/>
                </a:solidFill>
                <a:latin typeface="Trebuchet MS"/>
                <a:ea typeface="Trebuchet MS"/>
                <a:cs typeface="Trebuchet MS"/>
                <a:sym typeface="Trebuchet MS"/>
              </a:rPr>
              <a:t>Поразка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7424928" y="4471416"/>
            <a:ext cx="392551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«Розум» = 0, критичний Exposure або втрата стабільності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7424928" y="5093208"/>
            <a:ext cx="392551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Економіка перераховується щодня.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4"/>
          <p:cNvSpPr/>
          <p:nvPr/>
        </p:nvSpPr>
        <p:spPr>
          <a:xfrm>
            <a:off x="-1005840" y="4279392"/>
            <a:ext cx="2926080" cy="329184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10728655" y="-1005840"/>
            <a:ext cx="2560320" cy="283464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11551615" y="1170432"/>
            <a:ext cx="1188720" cy="13716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01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Тестування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Багаторівневе тестування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566928" y="1444752"/>
            <a:ext cx="5029200" cy="640080"/>
          </a:xfrm>
          <a:prstGeom prst="roundRect">
            <a:avLst>
              <a:gd fmla="val 12857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4"/>
          <p:cNvSpPr/>
          <p:nvPr/>
        </p:nvSpPr>
        <p:spPr>
          <a:xfrm>
            <a:off x="731520" y="1536192"/>
            <a:ext cx="457200" cy="4572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731520" y="1536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1344168" y="1444752"/>
            <a:ext cx="4069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Дані   </a:t>
            </a:r>
            <a:r>
              <a:rPr b="0" i="0" lang="en-US" sz="14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коректність JSON-контенту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14"/>
          <p:cNvCxnSpPr/>
          <p:nvPr/>
        </p:nvCxnSpPr>
        <p:spPr>
          <a:xfrm>
            <a:off x="960120" y="2084832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9" name="Google Shape;529;p14"/>
          <p:cNvSpPr/>
          <p:nvPr/>
        </p:nvSpPr>
        <p:spPr>
          <a:xfrm>
            <a:off x="566928" y="2212848"/>
            <a:ext cx="5029200" cy="640080"/>
          </a:xfrm>
          <a:prstGeom prst="roundRect">
            <a:avLst>
              <a:gd fmla="val 12857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4"/>
          <p:cNvSpPr/>
          <p:nvPr/>
        </p:nvSpPr>
        <p:spPr>
          <a:xfrm>
            <a:off x="731520" y="2304288"/>
            <a:ext cx="457200" cy="4572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731520" y="2304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1344168" y="2212848"/>
            <a:ext cx="4069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Модулі   </a:t>
            </a:r>
            <a:r>
              <a:rPr b="0" i="0" lang="en-US" sz="14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окремі системи ізольовано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" name="Google Shape;533;p14"/>
          <p:cNvCxnSpPr/>
          <p:nvPr/>
        </p:nvCxnSpPr>
        <p:spPr>
          <a:xfrm>
            <a:off x="960120" y="2852928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4" name="Google Shape;534;p14"/>
          <p:cNvSpPr/>
          <p:nvPr/>
        </p:nvSpPr>
        <p:spPr>
          <a:xfrm>
            <a:off x="566928" y="2980944"/>
            <a:ext cx="5029200" cy="640080"/>
          </a:xfrm>
          <a:prstGeom prst="roundRect">
            <a:avLst>
              <a:gd fmla="val 12857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4"/>
          <p:cNvSpPr/>
          <p:nvPr/>
        </p:nvSpPr>
        <p:spPr>
          <a:xfrm>
            <a:off x="731520" y="3072384"/>
            <a:ext cx="457200" cy="4572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71E33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4"/>
          <p:cNvSpPr/>
          <p:nvPr/>
        </p:nvSpPr>
        <p:spPr>
          <a:xfrm>
            <a:off x="731520" y="30723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1344168" y="2980944"/>
            <a:ext cx="4069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Інтеграція   </a:t>
            </a:r>
            <a:r>
              <a:rPr b="0" i="0" lang="en-US" sz="14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взаємодія систем у грі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566928" y="384048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ОХОПЛЕНІ ОБЛАСТІ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566928" y="4133088"/>
            <a:ext cx="2377440" cy="365760"/>
          </a:xfrm>
          <a:prstGeom prst="roundRect">
            <a:avLst>
              <a:gd fmla="val 175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"/>
          <p:cNvSpPr/>
          <p:nvPr/>
        </p:nvSpPr>
        <p:spPr>
          <a:xfrm>
            <a:off x="566928" y="41330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Події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3218688" y="4133088"/>
            <a:ext cx="2377440" cy="365760"/>
          </a:xfrm>
          <a:prstGeom prst="roundRect">
            <a:avLst>
              <a:gd fmla="val 175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4"/>
          <p:cNvSpPr/>
          <p:nvPr/>
        </p:nvSpPr>
        <p:spPr>
          <a:xfrm>
            <a:off x="3218688" y="41330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Персонажі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566928" y="4590288"/>
            <a:ext cx="2377440" cy="365760"/>
          </a:xfrm>
          <a:prstGeom prst="roundRect">
            <a:avLst>
              <a:gd fmla="val 175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4"/>
          <p:cNvSpPr/>
          <p:nvPr/>
        </p:nvSpPr>
        <p:spPr>
          <a:xfrm>
            <a:off x="566928" y="45902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Економіка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3218688" y="4590288"/>
            <a:ext cx="2377440" cy="365760"/>
          </a:xfrm>
          <a:prstGeom prst="roundRect">
            <a:avLst>
              <a:gd fmla="val 175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"/>
          <p:cNvSpPr/>
          <p:nvPr/>
        </p:nvSpPr>
        <p:spPr>
          <a:xfrm>
            <a:off x="3218688" y="45902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Збереження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566928" y="5047488"/>
            <a:ext cx="2377440" cy="365760"/>
          </a:xfrm>
          <a:prstGeom prst="roundRect">
            <a:avLst>
              <a:gd fmla="val 175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4"/>
          <p:cNvSpPr/>
          <p:nvPr/>
        </p:nvSpPr>
        <p:spPr>
          <a:xfrm>
            <a:off x="566928" y="50474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Сцени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3218688" y="5047488"/>
            <a:ext cx="2377440" cy="365760"/>
          </a:xfrm>
          <a:prstGeom prst="roundRect">
            <a:avLst>
              <a:gd fmla="val 175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4"/>
          <p:cNvSpPr/>
          <p:nvPr/>
        </p:nvSpPr>
        <p:spPr>
          <a:xfrm>
            <a:off x="3218688" y="50474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Генерація карти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566928" y="5504688"/>
            <a:ext cx="2377440" cy="365760"/>
          </a:xfrm>
          <a:prstGeom prst="roundRect">
            <a:avLst>
              <a:gd fmla="val 175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4"/>
          <p:cNvSpPr/>
          <p:nvPr/>
        </p:nvSpPr>
        <p:spPr>
          <a:xfrm>
            <a:off x="566928" y="55046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Інтерфейс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3218688" y="5504688"/>
            <a:ext cx="2377440" cy="365760"/>
          </a:xfrm>
          <a:prstGeom prst="roundRect">
            <a:avLst>
              <a:gd fmla="val 175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4"/>
          <p:cNvSpPr/>
          <p:nvPr/>
        </p:nvSpPr>
        <p:spPr>
          <a:xfrm>
            <a:off x="3218688" y="55046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Рішення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6053328" y="1170432"/>
            <a:ext cx="55714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ЗНАЙДЕНО ТА УСУНЕНО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6053328" y="1490472"/>
            <a:ext cx="5571439" cy="969264"/>
          </a:xfrm>
          <a:prstGeom prst="roundRect">
            <a:avLst>
              <a:gd fmla="val 8491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4"/>
          <p:cNvSpPr/>
          <p:nvPr/>
        </p:nvSpPr>
        <p:spPr>
          <a:xfrm>
            <a:off x="6053328" y="1600200"/>
            <a:ext cx="64008" cy="749808"/>
          </a:xfrm>
          <a:prstGeom prst="rect">
            <a:avLst/>
          </a:prstGeom>
          <a:solidFill>
            <a:srgbClr val="CD60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4"/>
          <p:cNvSpPr/>
          <p:nvPr/>
        </p:nvSpPr>
        <p:spPr>
          <a:xfrm>
            <a:off x="6309360" y="1618488"/>
            <a:ext cx="51142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UI у білді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6309360" y="1911096"/>
            <a:ext cx="5095951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інтерфейс некоректний у зібраній версії → виправлено прив'язки й масштаб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6053328" y="2587752"/>
            <a:ext cx="5571439" cy="969264"/>
          </a:xfrm>
          <a:prstGeom prst="roundRect">
            <a:avLst>
              <a:gd fmla="val 8491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4"/>
          <p:cNvSpPr/>
          <p:nvPr/>
        </p:nvSpPr>
        <p:spPr>
          <a:xfrm>
            <a:off x="6053328" y="2697480"/>
            <a:ext cx="64008" cy="749808"/>
          </a:xfrm>
          <a:prstGeom prst="rect">
            <a:avLst/>
          </a:prstGeom>
          <a:solidFill>
            <a:srgbClr val="CD60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4"/>
          <p:cNvSpPr/>
          <p:nvPr/>
        </p:nvSpPr>
        <p:spPr>
          <a:xfrm>
            <a:off x="6309360" y="2715768"/>
            <a:ext cx="51142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Несумісність збережень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6309360" y="3008376"/>
            <a:ext cx="5095951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старі збереження не вантажились → версіювання формату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6053328" y="3685032"/>
            <a:ext cx="5571439" cy="969264"/>
          </a:xfrm>
          <a:prstGeom prst="roundRect">
            <a:avLst>
              <a:gd fmla="val 8491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4"/>
          <p:cNvSpPr/>
          <p:nvPr/>
        </p:nvSpPr>
        <p:spPr>
          <a:xfrm>
            <a:off x="6053328" y="3794760"/>
            <a:ext cx="64008" cy="749808"/>
          </a:xfrm>
          <a:prstGeom prst="rect">
            <a:avLst/>
          </a:prstGeom>
          <a:solidFill>
            <a:srgbClr val="CD60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4"/>
          <p:cNvSpPr/>
          <p:nvPr/>
        </p:nvSpPr>
        <p:spPr>
          <a:xfrm>
            <a:off x="6309360" y="3813048"/>
            <a:ext cx="51142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Переростання економіки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6309360" y="4105656"/>
            <a:ext cx="5095951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дохід ріс некеровано → збалансовано оновлення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6053328" y="4782312"/>
            <a:ext cx="5571439" cy="969264"/>
          </a:xfrm>
          <a:prstGeom prst="roundRect">
            <a:avLst>
              <a:gd fmla="val 8491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4"/>
          <p:cNvSpPr/>
          <p:nvPr/>
        </p:nvSpPr>
        <p:spPr>
          <a:xfrm>
            <a:off x="6053328" y="4892040"/>
            <a:ext cx="64008" cy="749808"/>
          </a:xfrm>
          <a:prstGeom prst="rect">
            <a:avLst/>
          </a:prstGeom>
          <a:solidFill>
            <a:srgbClr val="CD60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4"/>
          <p:cNvSpPr/>
          <p:nvPr/>
        </p:nvSpPr>
        <p:spPr>
          <a:xfrm>
            <a:off x="6309360" y="4910328"/>
            <a:ext cx="51142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Застаріла сцена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6309360" y="5202936"/>
            <a:ext cx="5095951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конфлікт зайвої сцени → узгоджено зі сценним потоком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5"/>
          <p:cNvSpPr/>
          <p:nvPr/>
        </p:nvSpPr>
        <p:spPr>
          <a:xfrm>
            <a:off x="10362895" y="-1097280"/>
            <a:ext cx="2743200" cy="31089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5"/>
          <p:cNvSpPr/>
          <p:nvPr/>
        </p:nvSpPr>
        <p:spPr>
          <a:xfrm>
            <a:off x="-914400" y="4645152"/>
            <a:ext cx="2377440" cy="26517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Впровадження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Впровадження та апробація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566928" y="130759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НАУКОВА АПРОБАЦІЯ — 3 ПУБЛІКАЦІЇ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566928" y="1645920"/>
            <a:ext cx="5212080" cy="1234440"/>
          </a:xfrm>
          <a:prstGeom prst="roundRect">
            <a:avLst>
              <a:gd fmla="val 6667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566928" y="1755648"/>
            <a:ext cx="64008" cy="101498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5"/>
          <p:cNvSpPr/>
          <p:nvPr/>
        </p:nvSpPr>
        <p:spPr>
          <a:xfrm>
            <a:off x="822960" y="181051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29.05.2026    </a:t>
            </a:r>
            <a:r>
              <a:rPr b="0" i="0" lang="en-US" sz="13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· Кривий Ріг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822960" y="2139696"/>
            <a:ext cx="4736592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Інтеграція гексагональної карти з механіками впливу, стабільності та подій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566928" y="3026664"/>
            <a:ext cx="5212080" cy="1234440"/>
          </a:xfrm>
          <a:prstGeom prst="roundRect">
            <a:avLst>
              <a:gd fmla="val 6667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5"/>
          <p:cNvSpPr/>
          <p:nvPr/>
        </p:nvSpPr>
        <p:spPr>
          <a:xfrm>
            <a:off x="566928" y="3136392"/>
            <a:ext cx="64008" cy="101498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"/>
          <p:cNvSpPr/>
          <p:nvPr/>
        </p:nvSpPr>
        <p:spPr>
          <a:xfrm>
            <a:off x="822960" y="319125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05.06.2026    </a:t>
            </a:r>
            <a:r>
              <a:rPr b="0" i="0" lang="en-US" sz="13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· Paris · DOI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822960" y="3520440"/>
            <a:ext cx="4736592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Процедурна генерація карт: порівняння чотирьох підходів і вибір гексагональної декомпозиції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5"/>
          <p:cNvSpPr/>
          <p:nvPr/>
        </p:nvSpPr>
        <p:spPr>
          <a:xfrm>
            <a:off x="566928" y="4407408"/>
            <a:ext cx="5212080" cy="1234440"/>
          </a:xfrm>
          <a:prstGeom prst="roundRect">
            <a:avLst>
              <a:gd fmla="val 6667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"/>
          <p:cNvSpPr/>
          <p:nvPr/>
        </p:nvSpPr>
        <p:spPr>
          <a:xfrm>
            <a:off x="566928" y="4517136"/>
            <a:ext cx="64008" cy="101498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5"/>
          <p:cNvSpPr/>
          <p:nvPr/>
        </p:nvSpPr>
        <p:spPr>
          <a:xfrm>
            <a:off x="822960" y="45720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19.06.2026    </a:t>
            </a:r>
            <a:r>
              <a:rPr b="0" i="0" lang="en-US" sz="13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· Education and Science of Today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822960" y="4901184"/>
            <a:ext cx="4736592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Відтворюваний конвеєр процедурної генерації карти з даними подій у 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6236208" y="1645920"/>
            <a:ext cx="5388559" cy="2788920"/>
          </a:xfrm>
          <a:prstGeom prst="roundRect">
            <a:avLst>
              <a:gd fmla="val 2951" name="adj"/>
            </a:avLst>
          </a:prstGeom>
          <a:solidFill>
            <a:srgbClr val="1E2748"/>
          </a:solidFill>
          <a:ln cap="flat" cmpd="sng" w="1270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5"/>
          <p:cNvSpPr/>
          <p:nvPr/>
        </p:nvSpPr>
        <p:spPr>
          <a:xfrm>
            <a:off x="6510528" y="1901952"/>
            <a:ext cx="329184" cy="3657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5"/>
          <p:cNvSpPr/>
          <p:nvPr/>
        </p:nvSpPr>
        <p:spPr>
          <a:xfrm>
            <a:off x="7013448" y="1901952"/>
            <a:ext cx="438271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Зовнішнє представлення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6528816" y="2395728"/>
            <a:ext cx="480334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Публічна присутність (жовт.–груд. 2025): </a:t>
            </a: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5 публікацій із 35 запланованих (14,3%)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6528816" y="3017520"/>
            <a:ext cx="1491386" cy="841248"/>
          </a:xfrm>
          <a:prstGeom prst="roundRect">
            <a:avLst>
              <a:gd fmla="val 869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6528816" y="3127248"/>
            <a:ext cx="149138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≈460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6583680" y="3529584"/>
            <a:ext cx="13816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переглядів і показів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8184794" y="3017520"/>
            <a:ext cx="1491386" cy="841248"/>
          </a:xfrm>
          <a:prstGeom prst="roundRect">
            <a:avLst>
              <a:gd fmla="val 869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5"/>
          <p:cNvSpPr/>
          <p:nvPr/>
        </p:nvSpPr>
        <p:spPr>
          <a:xfrm>
            <a:off x="8184794" y="3127248"/>
            <a:ext cx="149138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41+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8239658" y="3529584"/>
            <a:ext cx="13816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реакцій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9840773" y="3017520"/>
            <a:ext cx="1491386" cy="841248"/>
          </a:xfrm>
          <a:prstGeom prst="roundRect">
            <a:avLst>
              <a:gd fmla="val 8696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9840773" y="3127248"/>
            <a:ext cx="149138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118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9895637" y="3529584"/>
            <a:ext cx="138165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найкращий матеріал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6528816" y="3968496"/>
            <a:ext cx="4803343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Найкраще сприймається контент про реальний прогрес розробки — інтерфейс, карту, системи.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6236208" y="4599432"/>
            <a:ext cx="5388559" cy="1042416"/>
          </a:xfrm>
          <a:prstGeom prst="roundRect">
            <a:avLst>
              <a:gd fmla="val 7895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5"/>
          <p:cNvSpPr/>
          <p:nvPr/>
        </p:nvSpPr>
        <p:spPr>
          <a:xfrm>
            <a:off x="6510528" y="4745736"/>
            <a:ext cx="4839919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КОМПЛЕКТ МАТЕРІАЛІВ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6510528" y="5001768"/>
            <a:ext cx="48399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пояснювальна записка · презентація · відеодемонстрація · демозбірка · скриншоти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"/>
          <p:cNvSpPr/>
          <p:nvPr/>
        </p:nvSpPr>
        <p:spPr>
          <a:xfrm>
            <a:off x="9997135" y="4187952"/>
            <a:ext cx="3108960" cy="347472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E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6"/>
          <p:cNvSpPr/>
          <p:nvPr/>
        </p:nvSpPr>
        <p:spPr>
          <a:xfrm>
            <a:off x="11185855" y="3090672"/>
            <a:ext cx="1554480" cy="17373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01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6"/>
          <p:cNvSpPr/>
          <p:nvPr/>
        </p:nvSpPr>
        <p:spPr>
          <a:xfrm>
            <a:off x="-822960" y="-914400"/>
            <a:ext cx="2377440" cy="26517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6"/>
          <p:cNvSpPr/>
          <p:nvPr/>
        </p:nvSpPr>
        <p:spPr>
          <a:xfrm>
            <a:off x="566928" y="638251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097AE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7802575" y="6364224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Висновки    </a:t>
            </a:r>
            <a:r>
              <a:rPr b="1" i="0" lang="en-US" sz="1700" u="none" cap="none" strike="noStrike">
                <a:solidFill>
                  <a:srgbClr val="9B82FF"/>
                </a:solidFill>
                <a:latin typeface="Calibri"/>
                <a:ea typeface="Calibri"/>
                <a:cs typeface="Calibri"/>
                <a:sym typeface="Calibri"/>
              </a:rPr>
              <a:t>/ 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Висновки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566928" y="1399032"/>
            <a:ext cx="2558720" cy="1371600"/>
          </a:xfrm>
          <a:prstGeom prst="roundRect">
            <a:avLst>
              <a:gd fmla="val 6000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6"/>
          <p:cNvSpPr/>
          <p:nvPr/>
        </p:nvSpPr>
        <p:spPr>
          <a:xfrm>
            <a:off x="566928" y="1581912"/>
            <a:ext cx="255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676656" y="2295144"/>
            <a:ext cx="2339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ігрових сцен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3399968" y="1399032"/>
            <a:ext cx="2558720" cy="1371600"/>
          </a:xfrm>
          <a:prstGeom prst="roundRect">
            <a:avLst>
              <a:gd fmla="val 6000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/>
          <p:nvPr/>
        </p:nvSpPr>
        <p:spPr>
          <a:xfrm>
            <a:off x="3399968" y="1581912"/>
            <a:ext cx="255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3509696" y="2295144"/>
            <a:ext cx="2339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кроків генерації карти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6233008" y="1399032"/>
            <a:ext cx="2558720" cy="1371600"/>
          </a:xfrm>
          <a:prstGeom prst="roundRect">
            <a:avLst>
              <a:gd fmla="val 6000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6"/>
          <p:cNvSpPr/>
          <p:nvPr/>
        </p:nvSpPr>
        <p:spPr>
          <a:xfrm>
            <a:off x="6233008" y="1581912"/>
            <a:ext cx="255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6"/>
          <p:cNvSpPr/>
          <p:nvPr/>
        </p:nvSpPr>
        <p:spPr>
          <a:xfrm>
            <a:off x="6342736" y="2295144"/>
            <a:ext cx="2339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взаємопов'язаних систем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9066047" y="1399032"/>
            <a:ext cx="2558720" cy="1371600"/>
          </a:xfrm>
          <a:prstGeom prst="roundRect">
            <a:avLst>
              <a:gd fmla="val 6000" name="adj"/>
            </a:avLst>
          </a:prstGeom>
          <a:solidFill>
            <a:srgbClr val="12182A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6"/>
          <p:cNvSpPr/>
          <p:nvPr/>
        </p:nvSpPr>
        <p:spPr>
          <a:xfrm>
            <a:off x="9066047" y="1581912"/>
            <a:ext cx="255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82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0–20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6"/>
          <p:cNvSpPr/>
          <p:nvPr/>
        </p:nvSpPr>
        <p:spPr>
          <a:xfrm>
            <a:off x="9175775" y="2295144"/>
            <a:ext cx="2339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шкала параметрів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566928" y="3044952"/>
            <a:ext cx="11057839" cy="914400"/>
          </a:xfrm>
          <a:prstGeom prst="roundRect">
            <a:avLst>
              <a:gd fmla="val 9000" name="adj"/>
            </a:avLst>
          </a:prstGeom>
          <a:solidFill>
            <a:srgbClr val="1E2748"/>
          </a:solidFill>
          <a:ln cap="flat" cmpd="sng" w="1270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6"/>
          <p:cNvSpPr/>
          <p:nvPr/>
        </p:nvSpPr>
        <p:spPr>
          <a:xfrm>
            <a:off x="886968" y="3191256"/>
            <a:ext cx="1041775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Виконано повний цикл: аналіз → вимоги → архітектура → реалізація → тестування → впровадження. Створено працездатний модульний Unity-прототип із сукупністю взаємопов'язаних систем.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566928" y="419709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НАПРЯМИ ПОДАЛЬШОГО РОЗВИТКУ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566928" y="4507992"/>
            <a:ext cx="2123785" cy="475488"/>
          </a:xfrm>
          <a:prstGeom prst="roundRect">
            <a:avLst>
              <a:gd fmla="val 50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6"/>
          <p:cNvSpPr/>
          <p:nvPr/>
        </p:nvSpPr>
        <p:spPr>
          <a:xfrm>
            <a:off x="566928" y="4507992"/>
            <a:ext cx="212378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Більше типів регіонів і персонажів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2800441" y="4507992"/>
            <a:ext cx="2123785" cy="475488"/>
          </a:xfrm>
          <a:prstGeom prst="roundRect">
            <a:avLst>
              <a:gd fmla="val 50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6"/>
          <p:cNvSpPr/>
          <p:nvPr/>
        </p:nvSpPr>
        <p:spPr>
          <a:xfrm>
            <a:off x="2800441" y="4507992"/>
            <a:ext cx="212378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Ланцюжки наслідків подій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6"/>
          <p:cNvSpPr/>
          <p:nvPr/>
        </p:nvSpPr>
        <p:spPr>
          <a:xfrm>
            <a:off x="5033955" y="4507992"/>
            <a:ext cx="2123785" cy="475488"/>
          </a:xfrm>
          <a:prstGeom prst="roundRect">
            <a:avLst>
              <a:gd fmla="val 50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6"/>
          <p:cNvSpPr/>
          <p:nvPr/>
        </p:nvSpPr>
        <p:spPr>
          <a:xfrm>
            <a:off x="5033955" y="4507992"/>
            <a:ext cx="212378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Система цілей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6"/>
          <p:cNvSpPr/>
          <p:nvPr/>
        </p:nvSpPr>
        <p:spPr>
          <a:xfrm>
            <a:off x="7267468" y="4507992"/>
            <a:ext cx="2123785" cy="475488"/>
          </a:xfrm>
          <a:prstGeom prst="roundRect">
            <a:avLst>
              <a:gd fmla="val 50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6"/>
          <p:cNvSpPr/>
          <p:nvPr/>
        </p:nvSpPr>
        <p:spPr>
          <a:xfrm>
            <a:off x="7267468" y="4507992"/>
            <a:ext cx="212378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Редактор контенту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6"/>
          <p:cNvSpPr/>
          <p:nvPr/>
        </p:nvSpPr>
        <p:spPr>
          <a:xfrm>
            <a:off x="9500982" y="4507992"/>
            <a:ext cx="2123785" cy="475488"/>
          </a:xfrm>
          <a:prstGeom prst="roundRect">
            <a:avLst>
              <a:gd fmla="val 50000" name="adj"/>
            </a:avLst>
          </a:prstGeom>
          <a:solidFill>
            <a:srgbClr val="171E33"/>
          </a:solidFill>
          <a:ln cap="flat" cmpd="sng" w="12700">
            <a:solidFill>
              <a:srgbClr val="29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6"/>
          <p:cNvSpPr/>
          <p:nvPr/>
        </p:nvSpPr>
        <p:spPr>
          <a:xfrm>
            <a:off x="9500982" y="4507992"/>
            <a:ext cx="212378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CD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CCDB"/>
                </a:solidFill>
                <a:latin typeface="Calibri"/>
                <a:ea typeface="Calibri"/>
                <a:cs typeface="Calibri"/>
                <a:sym typeface="Calibri"/>
              </a:rPr>
              <a:t>Удосконалення карти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timkuz/Documents/GitHub/Institute_Unity_Game/presentation/assets/report/clean/map_only.png" id="653" name="Google Shape;6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2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7"/>
          <p:cNvSpPr/>
          <p:nvPr/>
        </p:nvSpPr>
        <p:spPr>
          <a:xfrm>
            <a:off x="1645920" y="1645920"/>
            <a:ext cx="8899855" cy="3566160"/>
          </a:xfrm>
          <a:prstGeom prst="roundRect">
            <a:avLst>
              <a:gd fmla="val 3077" name="adj"/>
            </a:avLst>
          </a:prstGeom>
          <a:solidFill>
            <a:srgbClr val="0A0B12"/>
          </a:solidFill>
          <a:ln cap="flat" cmpd="sng" w="19050">
            <a:solidFill>
              <a:srgbClr val="4A39A0"/>
            </a:solidFill>
            <a:prstDash val="solid"/>
            <a:round/>
            <a:headEnd len="sm" w="sm" type="none"/>
            <a:tailEnd len="sm" w="sm" type="none"/>
          </a:ln>
          <a:effectLst>
            <a:outerShdw blurRad="330200" rotWithShape="0" algn="bl" dir="5400000" dist="101600">
              <a:srgbClr val="000000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7"/>
          <p:cNvSpPr/>
          <p:nvPr/>
        </p:nvSpPr>
        <p:spPr>
          <a:xfrm>
            <a:off x="1645920" y="1865376"/>
            <a:ext cx="8899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3400" u="none" cap="none" strike="noStrike">
                <a:solidFill>
                  <a:srgbClr val="9B82FF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7"/>
          <p:cNvSpPr/>
          <p:nvPr/>
        </p:nvSpPr>
        <p:spPr>
          <a:xfrm>
            <a:off x="1645920" y="2487168"/>
            <a:ext cx="88998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3F4F8"/>
                </a:solidFill>
                <a:latin typeface="Trebuchet MS"/>
                <a:ea typeface="Trebuchet MS"/>
                <a:cs typeface="Trebuchet MS"/>
                <a:sym typeface="Trebuchet MS"/>
              </a:rPr>
              <a:t>Дякую за увагу!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1645920" y="3401568"/>
            <a:ext cx="889985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Готовий відповісти на запитання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7"/>
          <p:cNvSpPr/>
          <p:nvPr/>
        </p:nvSpPr>
        <p:spPr>
          <a:xfrm>
            <a:off x="5666080" y="3858768"/>
            <a:ext cx="128016" cy="14630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4A39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7"/>
          <p:cNvSpPr/>
          <p:nvPr/>
        </p:nvSpPr>
        <p:spPr>
          <a:xfrm>
            <a:off x="6031840" y="3858768"/>
            <a:ext cx="128016" cy="14630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7"/>
          <p:cNvSpPr/>
          <p:nvPr/>
        </p:nvSpPr>
        <p:spPr>
          <a:xfrm>
            <a:off x="6397600" y="3858768"/>
            <a:ext cx="128016" cy="14630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4A39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7"/>
          <p:cNvSpPr/>
          <p:nvPr/>
        </p:nvSpPr>
        <p:spPr>
          <a:xfrm>
            <a:off x="1645920" y="4133088"/>
            <a:ext cx="889985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F4F8"/>
                </a:solidFill>
                <a:latin typeface="Calibri"/>
                <a:ea typeface="Calibri"/>
                <a:cs typeface="Calibri"/>
                <a:sym typeface="Calibri"/>
              </a:rPr>
              <a:t>Кузьменко Тимофій Володимирович</a:t>
            </a:r>
            <a:r>
              <a:rPr b="0" i="0" lang="en-US" sz="130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   ·   гр. ПЗПІ-22-8   ·   ХНУРЕ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1645920" y="4462272"/>
            <a:ext cx="8899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7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097AE"/>
                </a:solidFill>
                <a:latin typeface="Calibri"/>
                <a:ea typeface="Calibri"/>
                <a:cs typeface="Calibri"/>
                <a:sym typeface="Calibri"/>
              </a:rPr>
              <a:t>Науковий керівник — ст. викл. Сковороднікова В. В.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2026-06-23T17:03:37Z</dcterms:created>
  <dc:creator>Кузьменко Т. В.</dc:creator>
</cp:coreProperties>
</file>